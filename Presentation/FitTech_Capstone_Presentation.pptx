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Activity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Signup</c:v>
                  </c:pt>
                  <c:pt idx="1">
                    <c:v>Workout</c:v>
                  </c:pt>
                  <c:pt idx="2">
                    <c:v>Session</c:v>
                  </c:pt>
                  <c:pt idx="3">
                    <c:v>Notif.</c:v>
                  </c:pt>
                  <c:pt idx="4">
                    <c:v>Purchase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100</c:v>
                </c:pt>
                <c:pt idx="2">
                  <c:v>88</c:v>
                </c:pt>
                <c:pt idx="3">
                  <c:v>65</c:v>
                </c:pt>
                <c:pt idx="4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2A4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51F"/>
        </a:solidFill>
        <a:ln>
          <a:noFill/>
        </a:ln>
        <a:effectLst/>
      </c:spPr>
    </c:plotArea>
    <c:plotVisOnly val="1"/>
    <c:dispBlanksAs val="span"/>
  </c:chart>
  <c:spPr>
    <a:solidFill>
      <a:srgbClr val="10151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Users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3F4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Purchase Made</c:v>
                  </c:pt>
                  <c:pt idx="1">
                    <c:v>Notification Clicked</c:v>
                  </c:pt>
                  <c:pt idx="2">
                    <c:v>Workout Completed</c:v>
                  </c:pt>
                  <c:pt idx="3">
                    <c:v>Total Sessions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13.8</c:v>
                </c:pt>
                <c:pt idx="1">
                  <c:v>36.5</c:v>
                </c:pt>
                <c:pt idx="2">
                  <c:v>75</c:v>
                </c:pt>
                <c:pt idx="3">
                  <c:v>100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3F4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2A4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F4F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120"/>
        </a:solidFill>
        <a:ln>
          <a:noFill/>
        </a:ln>
        <a:effectLst/>
      </c:spPr>
    </c:plotArea>
    <c:plotVisOnly val="1"/>
    <c:dispBlanksAs val="span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3F4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Mumbai</c:v>
                  </c:pt>
                  <c:pt idx="1">
                    <c:v>Bangalore</c:v>
                  </c:pt>
                  <c:pt idx="2">
                    <c:v>Delhi NCR</c:v>
                  </c:pt>
                  <c:pt idx="3">
                    <c:v>Pune</c:v>
                  </c:pt>
                  <c:pt idx="4">
                    <c:v>Kolkata</c:v>
                  </c:pt>
                  <c:pt idx="5">
                    <c:v>Hyderabad</c:v>
                  </c:pt>
                  <c:pt idx="6">
                    <c:v>Chennai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108</c:v>
                </c:pt>
                <c:pt idx="1">
                  <c:v>86</c:v>
                </c:pt>
                <c:pt idx="2">
                  <c:v>84</c:v>
                </c:pt>
                <c:pt idx="3">
                  <c:v>84</c:v>
                </c:pt>
                <c:pt idx="4">
                  <c:v>82</c:v>
                </c:pt>
                <c:pt idx="5">
                  <c:v>78</c:v>
                </c:pt>
                <c:pt idx="6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3F4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2A4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120"/>
        </a:solidFill>
        <a:ln>
          <a:noFill/>
        </a:ln>
        <a:effectLst/>
      </c:spPr>
    </c:plotArea>
    <c:plotVisOnly val="1"/>
    <c:dispBlanksAs val="span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Calories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3F4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Cardio</c:v>
                  </c:pt>
                  <c:pt idx="1">
                    <c:v>Strength</c:v>
                  </c:pt>
                  <c:pt idx="2">
                    <c:v>Mix</c:v>
                  </c:pt>
                  <c:pt idx="3">
                    <c:v>Yoga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539.7</c:v>
                </c:pt>
                <c:pt idx="1">
                  <c:v>420.4</c:v>
                </c:pt>
                <c:pt idx="2">
                  <c:v>359.2</c:v>
                </c:pt>
                <c:pt idx="3">
                  <c:v>239.5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3F4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2A4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120"/>
        </a:solidFill>
        <a:ln>
          <a:noFill/>
        </a:ln>
        <a:effectLst/>
      </c:spPr>
    </c:plotArea>
    <c:plotVisOnly val="1"/>
    <c:dispBlanksAs val="span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Morning</c:v>
                </c:pt>
                <c:pt idx="1">
                  <c:v>Evening</c:v>
                </c:pt>
                <c:pt idx="2">
                  <c:v>Afternoon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45.09</c:v>
                </c:pt>
                <c:pt idx="1">
                  <c:v>40</c:v>
                </c:pt>
                <c:pt idx="2">
                  <c:v>14.92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F3F4F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bubble3D val="0"/>
            <c:spPr>
              <a:solidFill>
                <a:srgbClr val="374151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Workout Tracker</c:v>
                </c:pt>
                <c:pt idx="1">
                  <c:v>Progress</c:v>
                </c:pt>
                <c:pt idx="2">
                  <c:v>Diet Log + Community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39.8</c:v>
                </c:pt>
                <c:pt idx="1">
                  <c:v>25.1</c:v>
                </c:pt>
                <c:pt idx="2">
                  <c:v>35.1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F3F4F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3F4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Mobile</c:v>
                  </c:pt>
                  <c:pt idx="1">
                    <c:v>Web</c:v>
                  </c:pt>
                  <c:pt idx="2">
                    <c:v>Smartwatch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33.5</c:v>
                </c:pt>
                <c:pt idx="1">
                  <c:v>33.4</c:v>
                </c:pt>
                <c:pt idx="2">
                  <c:v>33.2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3F4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2A4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F4F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120"/>
        </a:solidFill>
        <a:ln>
          <a:noFill/>
        </a:ln>
        <a:effectLst/>
      </c:spPr>
    </c:plotArea>
    <c:plotVisOnly val="1"/>
    <c:dispBlanksAs val="span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3F4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Total_Workouts</c:v>
                  </c:pt>
                  <c:pt idx="1">
                    <c:v>Premium Subscription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2.21</c:v>
                </c:pt>
                <c:pt idx="1">
                  <c:v>0.62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3F4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2A4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F4F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7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120"/>
        </a:solidFill>
        <a:ln>
          <a:noFill/>
        </a:ln>
        <a:effectLst/>
      </c:spPr>
    </c:plotArea>
    <c:plotVisOnly val="1"/>
    <c:dispBlanksAs val="span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108960"/>
            <a:ext cx="5486400" cy="54864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FitTech App Analytics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fitness app usage, workout behaviour, calorie burn patterns, and engagement to support practical, data-driven personalization.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6675120" cy="1417320"/>
          </a:xfrm>
          <a:prstGeom prst="roundRect">
            <a:avLst>
              <a:gd name="adj" fmla="val 6452"/>
            </a:avLst>
          </a:prstGeom>
          <a:solidFill>
            <a:srgbClr val="141B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47472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has strong workout activity, but needs to understand what drives engagement, notification response, and purchases so the business can personalize user experiences and improve retention.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Prasanna    </a:t>
            </a:r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</a:t>
            </a:r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DA68    </a:t>
            </a:r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</a:t>
            </a:r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Shanmugam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12801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10151F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9244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TELEMETRY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27080" y="15361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8092440" y="187452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19659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092440" y="2514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784080" y="187452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141B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84080" y="19659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784080" y="2514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8092440" y="3108960"/>
          <a:ext cx="32918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telemetry dataset capturing granular user behavior across three core pillars: daily workout logs, wearable monitoring data, and in-app engagement sessions.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63040" y="17830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on unique </a:t>
            </a:r>
            <a:pPr algn="ctr"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pPr algn="ctr"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keys to build one unified view of the customer journey — from signup to workout completion to premium conversion.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3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unique profiles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2514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3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56616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Workouts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activity entries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2514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40080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baseline utility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35440" y="2514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544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23544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3544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growth target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617720"/>
            <a:ext cx="10725912" cy="1417320"/>
          </a:xfrm>
          <a:prstGeom prst="roundRect">
            <a:avLst>
              <a:gd name="adj" fmla="val 6452"/>
            </a:avLst>
          </a:prstGeom>
          <a:solidFill>
            <a:srgbClr val="0F1E19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475488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Note: 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User_Profile file included an Engagement_Level column that was identical ("Medium") for all 600 users — zero real signal. A behavior-based Engagement KPI (session frequency, completion, notifications, purchases) was derived instead and used to rebuild that column, rather than trusting a placeholder label at face value.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App Analytics  |  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606040" cy="4434840"/>
          </a:xfrm>
          <a:prstGeom prst="roundRect">
            <a:avLst>
              <a:gd name="adj" fmla="val 3509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691640"/>
            <a:ext cx="502920" cy="50292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Understand the User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demographics, subscriptions, and goals to map the core audience.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4937760"/>
            <a:ext cx="214884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074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Dictates marketing spend.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417320"/>
            <a:ext cx="2606040" cy="4434840"/>
          </a:xfrm>
          <a:prstGeom prst="roundRect">
            <a:avLst>
              <a:gd name="adj" fmla="val 3509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0" y="1691640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3794760" y="2377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Evaluate Engagement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94760" y="31089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feature adoption, session depth, and notification effectiveness.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94760" y="4937760"/>
            <a:ext cx="214884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5074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UI bottlenecks.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417320"/>
            <a:ext cx="2606040" cy="4434840"/>
          </a:xfrm>
          <a:prstGeom prst="roundRect">
            <a:avLst>
              <a:gd name="adj" fmla="val 3509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1691640"/>
            <a:ext cx="502920" cy="50292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21" name="Text 19"/>
          <p:cNvSpPr/>
          <p:nvPr/>
        </p:nvSpPr>
        <p:spPr>
          <a:xfrm>
            <a:off x="6629400" y="2377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Predict Behavior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31089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classification and regression models to forecast high-value users.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4937760"/>
            <a:ext cx="214884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5074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proactive retention.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35440" y="1417320"/>
            <a:ext cx="2606040" cy="4434840"/>
          </a:xfrm>
          <a:prstGeom prst="roundRect">
            <a:avLst>
              <a:gd name="adj" fmla="val 3509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09760" y="1691640"/>
            <a:ext cx="502920" cy="50292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28" name="Text 26"/>
          <p:cNvSpPr/>
          <p:nvPr/>
        </p:nvSpPr>
        <p:spPr>
          <a:xfrm>
            <a:off x="9464040" y="2377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Drive Strategy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64040" y="31089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EDA, SQL, and ML outputs into actionable personalization rules.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464040" y="4937760"/>
            <a:ext cx="214884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64040" y="5074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ultimate ROI.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App Analytics  |  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Funnel Drop-off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0350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90372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Funnel Reality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03720" y="19659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app utility is strong, proven by the 75% workout completion rate — users log in and successfully finish their routines.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03720" y="28346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UX falters at proactive engagement instead: only 36.5% of users respond to push notifications, throttling the flow toward premium purchases (13.8%).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903720" y="3886200"/>
            <a:ext cx="4754880" cy="1691640"/>
          </a:xfrm>
          <a:prstGeom prst="roundRect">
            <a:avLst>
              <a:gd name="adj" fmla="val 5405"/>
            </a:avLst>
          </a:prstGeom>
          <a:solidFill>
            <a:srgbClr val="24121C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32320" y="402336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Mandate: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13.8% purchase rate is the key business opportunity. This is treated as an "improve engagement/marketing" problem, not a "fix the app" problem — machine learning is used later to predict high-engagement users and guide personalized interventions.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App Analytics  |  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Profile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by Region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5760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9768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0C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438912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leads on volume (108 users, 18%), but Chennai converts the highest share to Premium (51.3%) — Bangalore close behind (46.5%). Volume and conversion quality are two different things.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3796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Consistency Across Age Groups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37960" y="1645920"/>
            <a:ext cx="5212080" cy="2606040"/>
          </a:xfrm>
          <a:prstGeom prst="roundRect">
            <a:avLst>
              <a:gd name="adj" fmla="val 3509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 is the largest single segment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66560" y="2194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18-25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249424"/>
            <a:ext cx="1631290" cy="256032"/>
          </a:xfrm>
          <a:prstGeom prst="roundRect">
            <a:avLst>
              <a:gd name="adj" fmla="val 14286"/>
            </a:avLst>
          </a:prstGeom>
          <a:solidFill>
            <a:srgbClr val="5B21B6"/>
          </a:solidFill>
          <a:ln/>
        </p:spPr>
      </p:sp>
      <p:sp>
        <p:nvSpPr>
          <p:cNvPr id="13" name="Text 10"/>
          <p:cNvSpPr/>
          <p:nvPr/>
        </p:nvSpPr>
        <p:spPr>
          <a:xfrm>
            <a:off x="9357970" y="2194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679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2734056"/>
            <a:ext cx="2977286" cy="256032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10703966" y="26791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31638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36-45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218688"/>
            <a:ext cx="1792224" cy="256032"/>
          </a:xfrm>
          <a:prstGeom prst="roundRect">
            <a:avLst>
              <a:gd name="adj" fmla="val 14286"/>
            </a:avLst>
          </a:prstGeom>
          <a:solidFill>
            <a:srgbClr val="5B21B6"/>
          </a:solidFill>
          <a:ln/>
        </p:spPr>
      </p:sp>
      <p:sp>
        <p:nvSpPr>
          <p:cNvPr id="19" name="Text 16"/>
          <p:cNvSpPr/>
          <p:nvPr/>
        </p:nvSpPr>
        <p:spPr>
          <a:xfrm>
            <a:off x="9518904" y="31638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66560" y="36484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46+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370332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5B21B6"/>
          </a:solidFill>
          <a:ln/>
        </p:spPr>
      </p:sp>
      <p:sp>
        <p:nvSpPr>
          <p:cNvPr id="22" name="Text 19"/>
          <p:cNvSpPr/>
          <p:nvPr/>
        </p:nvSpPr>
        <p:spPr>
          <a:xfrm>
            <a:off x="8641080" y="36484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537960" y="4526280"/>
            <a:ext cx="5212080" cy="822960"/>
          </a:xfrm>
          <a:prstGeom prst="roundRect">
            <a:avLst>
              <a:gd name="adj" fmla="val 11111"/>
            </a:avLst>
          </a:prstGeom>
          <a:solidFill>
            <a:srgbClr val="1A1229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766560" y="4590288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(~75%) and avg. session duration (~17.8 min) stay near-identical across every age group — age doesn't meaningfully change behavior here, a finding in itself.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App Analytics  |  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Workout &amp; Activity Patterns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Calories Burned by Workout Type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5760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9768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0F1E19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438912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yields the highest burn at 9.0 cal/min — more than double Yoga's 4.0 cal/min — thanks to sustained elevated heart rate.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3796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Time of Day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903720" y="1554480"/>
          <a:ext cx="44805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6537960" y="4526280"/>
            <a:ext cx="5212080" cy="822960"/>
          </a:xfrm>
          <a:prstGeom prst="roundRect">
            <a:avLst>
              <a:gd name="adj" fmla="val 11111"/>
            </a:avLst>
          </a:prstGeom>
          <a:solidFill>
            <a:srgbClr val="0C1A2E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766560" y="4590288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is the undisputed peak window (45.1%) across all workout types — the best timing for reminders and infrastructure reliability.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App Analytics  |  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Engagement Analytics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Sessions by Feature Used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557784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9768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24121C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438912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Tracker (39.8%) is the core app utility, with Progress next (25.1%). Together they're 65% of all engagement — any friction here risks the 75% completion rate.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3796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Split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766560" y="1600200"/>
          <a:ext cx="4937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6537960" y="4526280"/>
            <a:ext cx="5212080" cy="822960"/>
          </a:xfrm>
          <a:prstGeom prst="roundRect">
            <a:avLst>
              <a:gd name="adj" fmla="val 11111"/>
            </a:avLst>
          </a:prstGeom>
          <a:solidFill>
            <a:srgbClr val="0C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766560" y="4590288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Web, and Smartwatch usage are nearly equal (~33% each) — the experience must stay consistent across all three.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App Analytics  |  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Hypothesis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10B981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Workout type changes calorie burn.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average calories burned is equal across workout types.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000000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8221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15,699.11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41879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— calorie burn varies significantly by workout type.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37160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64592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8B5CF6">
              <a:alpha val="1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0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clicks do not prove more completions.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572000" y="2971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notification clicks and workout completion are independent.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374904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000000">
              <a:alpha val="4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38221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0.91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41879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0.34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4800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 — no significant relationship found.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0" y="137160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21040" y="164592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EC4899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21040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Clicks do not mean longer sessions.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321040" y="2971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avg. session duration is equal for clicked vs. not-clicked users.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21040" y="374904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000000">
              <a:alpha val="4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0" y="38221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1.22 (17.84 vs 17.82 min)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58200" y="41879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21040" y="4800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 — no significant duration lift found.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App Analytics  |  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Database Automations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SQL structures move the backend from static files into an automated, self-refreshing analytics pipeline for the business team.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92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Performance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4414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Pre-calculates KPIs across Free, Trial, and Premium tiers using a virtual table (vw_subscription_performance).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75234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query insights instantly without writing complex JOINs.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892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TRIGGER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Activity Sync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0" y="24414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 trigger on activity continuously updates the activity_summary table using NEW row values.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75234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metrics on dashboards stay accurate without manual batch scripts.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310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STORED PROCEDURE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56616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Reporting Generator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38587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sp_subscription_performance_report() encapsulates the full conversion-metrics query.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16966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managers retrieve formatted insights with one CALL command.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32004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3310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EVENT SCHEDULER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56616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Engagement Refresh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0" y="38587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Truncates and rebuilds engagement_summary every 24 hours via a scheduled EVENT.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416966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pPr indent="0" marL="0">
              <a:buNone/>
            </a:pPr>
            <a:r>
              <a:rPr lang="en-US" sz="9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tables stay synchronized with the latest engagement data automatically.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0C1A2E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58704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Note:  </a:t>
            </a:r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SQL setup was chosen for stateful, accurate aggregations for business reporting, over a document-store alternative for unstructured wearable data.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App Analytics  |  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Modeling (ML)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Data to Predict the Future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machine learning is applied to achieve two very specific, measurable business goals: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807208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1508760" y="27157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(Targeting)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08760" y="29900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users highly likely to stay engaged, so retention and reward budgets can be focused accurately.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858768"/>
            <a:ext cx="502920" cy="50292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1508760" y="37673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(Valuation)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08760" y="40416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 user's total session time quantitatively to forecast lifetime value (LTV).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137160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0C1A2E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Preparation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20574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“High Engagement” = Total Session Time ≥ median (5,943 min)  •  Dataset: 600 users, balanced classes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9400" y="283464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0B1120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28346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Split 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374904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0B1120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37490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Scale 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normalize numerical variance.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466344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0B1120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12280" y="46634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Encode 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for Gender, Region, Subscription, Goal, Workout Type.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App Analytics  |  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Classification Models Evaluated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target: </a:t>
            </a:r>
            <a:pPr algn="ctr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High_Engagement_Flag</a:t>
            </a:r>
            <a:pPr algn="ctr"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users with Total Session Time ≥ 5,943 minutes are marked high engagement.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141B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47672"/>
            <a:ext cx="2971800" cy="310896"/>
          </a:xfrm>
          <a:prstGeom prst="roundRect">
            <a:avLst>
              <a:gd name="adj" fmla="val 17647"/>
            </a:avLst>
          </a:prstGeom>
          <a:solidFill>
            <a:srgbClr val="10B981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476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72.5%   |   High-engagement recall: 73%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identifies 44/60 truly high-engagement and 43/60 truly low-engagement users (17 false alarms, 16 missed).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29718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091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directly explainable — the business can defend exactly which behaviors raise or lower engagement probability.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141B2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947672"/>
            <a:ext cx="2971800" cy="310896"/>
          </a:xfrm>
          <a:prstGeom prst="roundRect">
            <a:avLst>
              <a:gd name="adj" fmla="val 17647"/>
            </a:avLst>
          </a:prstGeom>
          <a:solidFill>
            <a:srgbClr val="8B5CF6">
              <a:alpha val="1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9476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377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Classifier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2834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64.2%   |   High-engagement recall: 70%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0" y="34290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42/60 high-engagement users but only 35/60 low-engagement users — 25 false alarms, the weakest of the three.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4572000"/>
            <a:ext cx="29718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7091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coefficients to explain — classifies by comparing users to similar users, with no “why” behind a prediction.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141B2E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1947672"/>
            <a:ext cx="2971800" cy="310896"/>
          </a:xfrm>
          <a:prstGeom prst="roundRect">
            <a:avLst>
              <a:gd name="adj" fmla="val 17647"/>
            </a:avLst>
          </a:prstGeom>
          <a:solidFill>
            <a:srgbClr val="EC4899">
              <a:alpha val="1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19476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2377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21040" y="2834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77.5%   |   High-engagement recall: 73%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21040" y="34290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44/60 high-engagement and 49/60 low-engagement users — highest raw accuracy, only 11 false alarms.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21040" y="4572000"/>
            <a:ext cx="29718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7091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top accuracy, a single tree is less stable on 600 users, and its branching rules are harder for stakeholders to generalize from.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App Analytics  |  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Drivers: What Impacts Engagement?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Driver: Workout Frequency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was chosen not just for its 72.5% accuracy, but for its perfect business explainability.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workout frequency dwarfs every other factor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over 3x the next-largest driver, Premium subscription. Once workout frequency is in the model, Completion Rate and Purchase Rate carry small negative coefficients: their simple correlation with engagement is already explained by how often a user works out.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0C1A2E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42976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Mandate: 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workout frequency and Premium conversion first — together the two strongest mathematical predictors of high engagement, far ahead of notification or completion-rate effects.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5508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Feature Coefficients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355080" y="1783080"/>
          <a:ext cx="52120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355080" y="42062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0" y="43434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b="1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secondary effects:  </a:t>
            </a:r>
            <a:pPr indent="0" marL="0">
              <a:lnSpc>
                <a:spcPct val="128000"/>
              </a:lnSpc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and Purchase Rate each carry small negative coefficients once workout frequency is accounted for; Age Group and Goal Type contribute smaller effects still.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App Analytics  |  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Findings &amp; Interpretations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8BDF8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Workout Preferences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99339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is the most recorded workout at 25.1%, while Cardio has the highest average calorie burn at 539.7 calories.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8BDF8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 Timing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5021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accounts for 45.1% of workouts — the best timing window for reminders and app reliability.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709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8BDF8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Utility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50109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Tracker contributes 39.8% of engagement sessions — users clearly value progress tracking.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146304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0B981">
              <a:alpha val="1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 Bottleneck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0" y="199339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is strong at 75.0%, but notification clicks (36.5%) and purchases (13.8%) show real conversion drop-off.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297180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0B981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Reality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5021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shows notification clicks do not automatically create longer sessions — message quality matters more than click volume.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448056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4709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0B981">
              <a:alpha val="1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Direction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23760" y="50109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converts these insights into action: identifying likely high-engagement users and estimating session time.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App Analytics  |  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high-value feature journeys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product investment on Workout Tracker and Progress, which together account for 65% of feature usage.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39.8% Workout Tracker, 25.1% Progress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600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completion-safe feature pairings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Log and Community show the highest workout completion rates. Bundle these pathways with workout guidance to improve satisfaction.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3337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COMPLETION: Diet Log 75.5%, Community 75.3%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1600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 by workout efficiency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2240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higher-efficiency workouts for calorie-focused users, consistency-focused routines for wellness goals.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3337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Cardio 9.0 cal/min, Yoga 4.0 cal/min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0C1A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133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Optimize cross-device consistency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Web, and Smartwatch usage are nearly equal (~33% each) — deliver the same high-quality feature experience across all devices.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257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SHARE: Mobile 33.5%, Web 33.4%, Smartwatch 33.2%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39319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24121C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4133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Focus on engagement drivers, not surface metrics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45262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improvements that directly support Objectives 3 and 4 — feature adoption, notification effectiveness, efficiency, and completion — rather than isolated volume numbers.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 App Analytics  |  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7744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0" y="37490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attention.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Prasanna  •  Batch DA68  •  Mentor: Priya Shanmugam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2026-07-22T04:28:02Z</dcterms:created>
  <dcterms:modified xsi:type="dcterms:W3CDTF">2026-07-22T04:28:02Z</dcterms:modified>
</cp:coreProperties>
</file>