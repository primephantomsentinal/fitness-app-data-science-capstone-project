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1" r:id="rId22"/>
    <p:sldId id="272" r:id="rId2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3.xml"/><Relationship Id="rId23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Activity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Signup</c:v>
                  </c:pt>
                  <c:pt idx="1">
                    <c:v>Workout</c:v>
                  </c:pt>
                  <c:pt idx="2">
                    <c:v>Session</c:v>
                  </c:pt>
                  <c:pt idx="3">
                    <c:v>Notif.</c:v>
                  </c:pt>
                  <c:pt idx="4">
                    <c:v>Purchase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92</c:v>
                </c:pt>
                <c:pt idx="1">
                  <c:v>100</c:v>
                </c:pt>
                <c:pt idx="2">
                  <c:v>88</c:v>
                </c:pt>
                <c:pt idx="3">
                  <c:v>65</c:v>
                </c:pt>
                <c:pt idx="4">
                  <c:v>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2A44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0151F"/>
        </a:solidFill>
        <a:ln>
          <a:noFill/>
        </a:ln>
        <a:effectLst/>
      </c:spPr>
    </c:plotArea>
    <c:plotVisOnly val="1"/>
    <c:dispBlanksAs val="span"/>
  </c:chart>
  <c:spPr>
    <a:solidFill>
      <a:srgbClr val="10151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Users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3F4F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Purchase Made</c:v>
                  </c:pt>
                  <c:pt idx="1">
                    <c:v>Notification Clicked</c:v>
                  </c:pt>
                  <c:pt idx="2">
                    <c:v>Workout Completed</c:v>
                  </c:pt>
                  <c:pt idx="3">
                    <c:v>Total Sessions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13.8</c:v>
                </c:pt>
                <c:pt idx="1">
                  <c:v>36.5</c:v>
                </c:pt>
                <c:pt idx="2">
                  <c:v>75</c:v>
                </c:pt>
                <c:pt idx="3">
                  <c:v>100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3F4F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2A44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F4F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120"/>
        </a:solidFill>
        <a:ln>
          <a:noFill/>
        </a:ln>
        <a:effectLst/>
      </c:spPr>
    </c:plotArea>
    <c:plotVisOnly val="1"/>
    <c:dispBlanksAs val="span"/>
  </c:chart>
  <c:spPr>
    <a:solidFill>
      <a:srgbClr val="0B1120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Users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3F4F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Mumbai</c:v>
                  </c:pt>
                  <c:pt idx="1">
                    <c:v>Bangalore</c:v>
                  </c:pt>
                  <c:pt idx="2">
                    <c:v>Delhi NCR</c:v>
                  </c:pt>
                  <c:pt idx="3">
                    <c:v>Pune</c:v>
                  </c:pt>
                  <c:pt idx="4">
                    <c:v>Kolkata</c:v>
                  </c:pt>
                  <c:pt idx="5">
                    <c:v>Hyderabad</c:v>
                  </c:pt>
                  <c:pt idx="6">
                    <c:v>Chennai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</c:v>
                </c:pt>
                <c:pt idx="1">
                  <c:v>86</c:v>
                </c:pt>
                <c:pt idx="2">
                  <c:v>84</c:v>
                </c:pt>
                <c:pt idx="3">
                  <c:v>84</c:v>
                </c:pt>
                <c:pt idx="4">
                  <c:v>82</c:v>
                </c:pt>
                <c:pt idx="5">
                  <c:v>78</c:v>
                </c:pt>
                <c:pt idx="6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3F4F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2A44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120"/>
        </a:solidFill>
        <a:ln>
          <a:noFill/>
        </a:ln>
        <a:effectLst/>
      </c:spPr>
    </c:plotArea>
    <c:plotVisOnly val="1"/>
    <c:dispBlanksAs val="span"/>
  </c:chart>
  <c:spPr>
    <a:solidFill>
      <a:srgbClr val="0B1120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Calories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3F4F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Cardio</c:v>
                  </c:pt>
                  <c:pt idx="1">
                    <c:v>Strength</c:v>
                  </c:pt>
                  <c:pt idx="2">
                    <c:v>Mix</c:v>
                  </c:pt>
                  <c:pt idx="3">
                    <c:v>Yoga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539.7</c:v>
                </c:pt>
                <c:pt idx="1">
                  <c:v>420.4</c:v>
                </c:pt>
                <c:pt idx="2">
                  <c:v>359.2</c:v>
                </c:pt>
                <c:pt idx="3">
                  <c:v>239.5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3F4F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2A44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120"/>
        </a:solidFill>
        <a:ln>
          <a:noFill/>
        </a:ln>
        <a:effectLst/>
      </c:spPr>
    </c:plotArea>
    <c:plotVisOnly val="1"/>
    <c:dispBlanksAs val="span"/>
  </c:chart>
  <c:spPr>
    <a:solidFill>
      <a:srgbClr val="0B1120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8BDF8"/>
              </a:solidFill>
              <a:effectLst/>
            </c:spPr>
          </c:dPt>
          <c:dPt>
            <c:idx val="2"/>
            <c:bubble3D val="0"/>
            <c:spPr>
              <a:solidFill>
                <a:srgbClr val="8B5CF6"/>
              </a:solidFill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Morning</c:v>
                </c:pt>
                <c:pt idx="1">
                  <c:v>Evening</c:v>
                </c:pt>
                <c:pt idx="2">
                  <c:v>Afternoon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45.09</c:v>
                </c:pt>
                <c:pt idx="1">
                  <c:v>40</c:v>
                </c:pt>
                <c:pt idx="2">
                  <c:v>14.92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F3F4F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120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C4899"/>
              </a:solidFill>
              <a:effectLst/>
            </c:spPr>
          </c:dPt>
          <c:dPt>
            <c:idx val="1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bubble3D val="0"/>
            <c:spPr>
              <a:solidFill>
                <a:srgbClr val="374151"/>
              </a:solidFill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Workout Tracker</c:v>
                </c:pt>
                <c:pt idx="1">
                  <c:v>Progress</c:v>
                </c:pt>
                <c:pt idx="2">
                  <c:v>Diet Log + Community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39.8</c:v>
                </c:pt>
                <c:pt idx="1">
                  <c:v>25.1</c:v>
                </c:pt>
                <c:pt idx="2">
                  <c:v>35.1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F3F4F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120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3F4F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Mobile</c:v>
                  </c:pt>
                  <c:pt idx="1">
                    <c:v>Web</c:v>
                  </c:pt>
                  <c:pt idx="2">
                    <c:v>Smartwatch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33.5</c:v>
                </c:pt>
                <c:pt idx="1">
                  <c:v>33.4</c:v>
                </c:pt>
                <c:pt idx="2">
                  <c:v>33.2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3F4F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2A44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F4F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120"/>
        </a:solidFill>
        <a:ln>
          <a:noFill/>
        </a:ln>
        <a:effectLst/>
      </c:spPr>
    </c:plotArea>
    <c:plotVisOnly val="1"/>
    <c:dispBlanksAs val="span"/>
  </c:chart>
  <c:spPr>
    <a:solidFill>
      <a:srgbClr val="0B1120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3F4F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Total_Workouts</c:v>
                  </c:pt>
                  <c:pt idx="1">
                    <c:v>Completion Rate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3.09</c:v>
                </c:pt>
                <c:pt idx="1">
                  <c:v>1.36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3F4F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2A44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F4F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7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120"/>
        </a:solidFill>
        <a:ln>
          <a:noFill/>
        </a:ln>
        <a:effectLst/>
      </c:spPr>
    </c:plotArea>
    <c:plotVisOnly val="1"/>
    <c:dispBlanksAs val="span"/>
  </c:chart>
  <c:spPr>
    <a:solidFill>
      <a:srgbClr val="0B1120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chart" Target="..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chart" Target="..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7315200" cy="7315200"/>
          </a:xfrm>
          <a:prstGeom prst="ellipse">
            <a:avLst/>
          </a:prstGeom>
          <a:solidFill>
            <a:srgbClr val="10B981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326880" y="3108960"/>
            <a:ext cx="5486400" cy="5486400"/>
          </a:xfrm>
          <a:prstGeom prst="ellipse">
            <a:avLst/>
          </a:prstGeom>
          <a:solidFill>
            <a:srgbClr val="38BDF8">
              <a:alpha val="8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PROJECT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FitTech App Analytics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Assessing fitness app usage, workout behaviour, calorie burn patterns, and engagement to support practical, data-driven personalization.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3337560"/>
            <a:ext cx="6675120" cy="1417320"/>
          </a:xfrm>
          <a:prstGeom prst="roundRect">
            <a:avLst>
              <a:gd name="adj" fmla="val 6452"/>
            </a:avLst>
          </a:prstGeom>
          <a:solidFill>
            <a:srgbClr val="141B2E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3474720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has strong workout activity, but needs to understand what drives engagement, notification response, and purchases so the business can personalize user experiences and improve retention.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50749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</a:t>
            </a:r>
            <a:pPr indent="0" marL="0">
              <a:buNone/>
            </a:pPr>
            <a:r>
              <a:rPr lang="en-US" sz="13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Prasanna    </a:t>
            </a:r>
            <a:pPr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Batch: </a:t>
            </a:r>
            <a:pPr indent="0" marL="0">
              <a:buNone/>
            </a:pPr>
            <a:r>
              <a:rPr lang="en-US" sz="13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DA68    </a:t>
            </a:r>
            <a:pPr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</a:t>
            </a:r>
            <a:pPr indent="0" marL="0">
              <a:buNone/>
            </a:pPr>
            <a:r>
              <a:rPr lang="en-US" sz="13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Shanmugam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863840" y="128016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10151F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09244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TELEMETRY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927080" y="1536192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092440" y="1874520"/>
            <a:ext cx="1600200" cy="1051560"/>
          </a:xfrm>
          <a:prstGeom prst="roundRect">
            <a:avLst>
              <a:gd name="adj" fmla="val 8696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092440" y="196596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3F4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092440" y="2514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784080" y="1874520"/>
            <a:ext cx="1600200" cy="1051560"/>
          </a:xfrm>
          <a:prstGeom prst="roundRect">
            <a:avLst>
              <a:gd name="adj" fmla="val 8696"/>
            </a:avLst>
          </a:prstGeom>
          <a:solidFill>
            <a:srgbClr val="141B2E"/>
          </a:solidFill>
          <a:ln w="1270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784080" y="196596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784080" y="2514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092440" y="3108960"/>
          <a:ext cx="32918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FOUNDATION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Dataset Overview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2344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telemetry dataset capturing granular user behavior across three core pillars: daily workout logs, wearable monitoring data, and in-app engagement sessions.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63040" y="178308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on unique </a:t>
            </a:r>
            <a:pPr algn="ctr" indent="0" marL="0">
              <a:buNone/>
            </a:pPr>
            <a:r>
              <a:rPr lang="en-US" sz="125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User_ID</a:t>
            </a:r>
            <a:pPr algn="ctr"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keys to build one unified view of the customer journey — from signup to workout completion to premium conversion.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251460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3F4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Users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unique profiles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0" y="251460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3F4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100K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566160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Workouts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3794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activity entries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0" y="251460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400800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Rate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3794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baseline utility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235440" y="251460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3544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C48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235440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235440" y="37947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growth target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" y="4617720"/>
            <a:ext cx="10725912" cy="1417320"/>
          </a:xfrm>
          <a:prstGeom prst="roundRect">
            <a:avLst>
              <a:gd name="adj" fmla="val 6452"/>
            </a:avLst>
          </a:prstGeom>
          <a:solidFill>
            <a:srgbClr val="0F1E19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60120" y="475488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Note: 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User_Profile file included an Engagement_Level column that was identical ("Medium") for all 600 users — zero real signal. A behavior-based Engagement KPI (session frequency, completion, notifications, purchases) was derived instead and used to rebuild that column, rather than trusting a placeholder label at face value.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2606040" cy="4434840"/>
          </a:xfrm>
          <a:prstGeom prst="roundRect">
            <a:avLst>
              <a:gd name="adj" fmla="val 3509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1691640"/>
            <a:ext cx="502920" cy="502920"/>
          </a:xfrm>
          <a:prstGeom prst="ellipse">
            <a:avLst/>
          </a:prstGeom>
          <a:solidFill>
            <a:srgbClr val="38BDF8">
              <a:alpha val="1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4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Understand the User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310896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demographics, subscriptions, and goals to map the core audience.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4937760"/>
            <a:ext cx="2148840" cy="0"/>
          </a:xfrm>
          <a:prstGeom prst="line">
            <a:avLst/>
          </a:prstGeom>
          <a:noFill/>
          <a:ln w="12700">
            <a:solidFill>
              <a:srgbClr val="1F2A4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0120" y="50749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Dictates marketing spend.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66160" y="1417320"/>
            <a:ext cx="2606040" cy="4434840"/>
          </a:xfrm>
          <a:prstGeom prst="roundRect">
            <a:avLst>
              <a:gd name="adj" fmla="val 3509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84048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8404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40" dirty="0"/>
          </a:p>
        </p:txBody>
      </p:sp>
      <p:sp>
        <p:nvSpPr>
          <p:cNvPr id="14" name="Text 12"/>
          <p:cNvSpPr/>
          <p:nvPr/>
        </p:nvSpPr>
        <p:spPr>
          <a:xfrm>
            <a:off x="3794760" y="23774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Evaluate Engagement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94760" y="310896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feature adoption, session depth, and notification effectiveness.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94760" y="4937760"/>
            <a:ext cx="2148840" cy="0"/>
          </a:xfrm>
          <a:prstGeom prst="line">
            <a:avLst/>
          </a:prstGeom>
          <a:noFill/>
          <a:ln w="12700">
            <a:solidFill>
              <a:srgbClr val="1F2A4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794760" y="50749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UI bottlenecks.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417320"/>
            <a:ext cx="2606040" cy="4434840"/>
          </a:xfrm>
          <a:prstGeom prst="roundRect">
            <a:avLst>
              <a:gd name="adj" fmla="val 3509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40" dirty="0"/>
          </a:p>
        </p:txBody>
      </p:sp>
      <p:sp>
        <p:nvSpPr>
          <p:cNvPr id="21" name="Text 19"/>
          <p:cNvSpPr/>
          <p:nvPr/>
        </p:nvSpPr>
        <p:spPr>
          <a:xfrm>
            <a:off x="6629400" y="23774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Predict Behavior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29400" y="310896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classification and regression models to forecast high-value users.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29400" y="4937760"/>
            <a:ext cx="2148840" cy="0"/>
          </a:xfrm>
          <a:prstGeom prst="line">
            <a:avLst/>
          </a:prstGeom>
          <a:noFill/>
          <a:ln w="12700">
            <a:solidFill>
              <a:srgbClr val="1F2A44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29400" y="50749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proactive retention.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235440" y="1417320"/>
            <a:ext cx="2606040" cy="4434840"/>
          </a:xfrm>
          <a:prstGeom prst="roundRect">
            <a:avLst>
              <a:gd name="adj" fmla="val 3509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509760" y="1691640"/>
            <a:ext cx="502920" cy="502920"/>
          </a:xfrm>
          <a:prstGeom prst="ellipse">
            <a:avLst/>
          </a:prstGeom>
          <a:solidFill>
            <a:srgbClr val="EC4899">
              <a:alpha val="15000"/>
            </a:srgbClr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5097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40" dirty="0"/>
          </a:p>
        </p:txBody>
      </p:sp>
      <p:sp>
        <p:nvSpPr>
          <p:cNvPr id="28" name="Text 26"/>
          <p:cNvSpPr/>
          <p:nvPr/>
        </p:nvSpPr>
        <p:spPr>
          <a:xfrm>
            <a:off x="9464040" y="23774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Drive Strategy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464040" y="310896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EDA, SQL, and ML outputs into actionable personalization rules.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464040" y="4937760"/>
            <a:ext cx="2148840" cy="0"/>
          </a:xfrm>
          <a:prstGeom prst="line">
            <a:avLst/>
          </a:prstGeom>
          <a:noFill/>
          <a:ln w="12700">
            <a:solidFill>
              <a:srgbClr val="1F2A44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464040" y="50749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ultimate ROI.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Funnel Drop-off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0350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903720" y="1417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Funnel Reality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903720" y="19659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app utility is strong, proven by the 75% workout completion rate — users log in and successfully finish their routines.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903720" y="28346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UX falters at proactive engagement instead: only 36.5% of users respond to push notifications, throttling the flow toward premium purchases (13.8%).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903720" y="3886200"/>
            <a:ext cx="4754880" cy="1691640"/>
          </a:xfrm>
          <a:prstGeom prst="roundRect">
            <a:avLst>
              <a:gd name="adj" fmla="val 5405"/>
            </a:avLst>
          </a:prstGeom>
          <a:solidFill>
            <a:srgbClr val="24121C"/>
          </a:solidFill>
          <a:ln w="12700">
            <a:solidFill>
              <a:srgbClr val="EC489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132320" y="4023360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Mandate: 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13.8% purchase rate is the key business opportunity. This is treated as an "improve engagement/marketing" problem, not a "fix the app" problem — machine learning is used later to predict high-engagement users and guide personalized interventions.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Profile Analysis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by Region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00200"/>
          <a:ext cx="57607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297680"/>
            <a:ext cx="5760720" cy="1051560"/>
          </a:xfrm>
          <a:prstGeom prst="roundRect">
            <a:avLst>
              <a:gd name="adj" fmla="val 8696"/>
            </a:avLst>
          </a:prstGeom>
          <a:solidFill>
            <a:srgbClr val="0C1A2E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438912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leads on volume (108 users, 18%), but Chennai converts the highest share to Premium (51.3%) — Bangalore close behind (46.5%). Volume and conversion quality are two different things.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53796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Consistency Across Age Groups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37960" y="1645920"/>
            <a:ext cx="5212080" cy="2606040"/>
          </a:xfrm>
          <a:prstGeom prst="roundRect">
            <a:avLst>
              <a:gd name="adj" fmla="val 3509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766560" y="1783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26-35 is the largest single segment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66560" y="21945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18-25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35240" y="2249424"/>
            <a:ext cx="1631290" cy="256032"/>
          </a:xfrm>
          <a:prstGeom prst="roundRect">
            <a:avLst>
              <a:gd name="adj" fmla="val 14286"/>
            </a:avLst>
          </a:prstGeom>
          <a:solidFill>
            <a:srgbClr val="5B21B6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9357970" y="21945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6791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26-35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635240" y="2734056"/>
            <a:ext cx="2977286" cy="256032"/>
          </a:xfrm>
          <a:prstGeom prst="roundRect">
            <a:avLst>
              <a:gd name="adj" fmla="val 14286"/>
            </a:avLst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0703966" y="26791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40.7%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3163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36-45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35240" y="3218688"/>
            <a:ext cx="1792224" cy="256032"/>
          </a:xfrm>
          <a:prstGeom prst="roundRect">
            <a:avLst>
              <a:gd name="adj" fmla="val 14286"/>
            </a:avLst>
          </a:prstGeom>
          <a:solidFill>
            <a:srgbClr val="5B21B6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9518904" y="31638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364845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46+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35240" y="370332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5B21B6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8641080" y="364845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12.5%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537960" y="4526280"/>
            <a:ext cx="5212080" cy="822960"/>
          </a:xfrm>
          <a:prstGeom prst="roundRect">
            <a:avLst>
              <a:gd name="adj" fmla="val 11111"/>
            </a:avLst>
          </a:prstGeom>
          <a:solidFill>
            <a:srgbClr val="1A1229"/>
          </a:solidFill>
          <a:ln w="1270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766560" y="4590288"/>
            <a:ext cx="4754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(~75%) and avg. session duration (~17.8 min) stay near-identical across every age group — age doesn't meaningfully change behavior here, a finding in itself.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Workout &amp; Activity Patterns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Calories Burned by Workout Type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00200"/>
          <a:ext cx="57607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297680"/>
            <a:ext cx="5760720" cy="1051560"/>
          </a:xfrm>
          <a:prstGeom prst="roundRect">
            <a:avLst>
              <a:gd name="adj" fmla="val 8696"/>
            </a:avLst>
          </a:prstGeom>
          <a:solidFill>
            <a:srgbClr val="0F1E19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438912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 yields the highest burn at 9.0 cal/min — more than double Yoga's 4.0 cal/min — thanks to sustained elevated heart rate.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53796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 Time of Day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903720" y="1554480"/>
          <a:ext cx="44805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6537960" y="4526280"/>
            <a:ext cx="5212080" cy="822960"/>
          </a:xfrm>
          <a:prstGeom prst="roundRect">
            <a:avLst>
              <a:gd name="adj" fmla="val 11111"/>
            </a:avLst>
          </a:prstGeom>
          <a:solidFill>
            <a:srgbClr val="0C1A2E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6766560" y="4590288"/>
            <a:ext cx="4754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is the undisputed peak window (45.1%) across all workout types — the best timing for reminders and infrastructure reliability.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Engagement Analytics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Sessions by Feature Used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557784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297680"/>
            <a:ext cx="5760720" cy="1051560"/>
          </a:xfrm>
          <a:prstGeom prst="roundRect">
            <a:avLst>
              <a:gd name="adj" fmla="val 8696"/>
            </a:avLst>
          </a:prstGeom>
          <a:solidFill>
            <a:srgbClr val="24121C"/>
          </a:solidFill>
          <a:ln w="12700">
            <a:solidFill>
              <a:srgbClr val="EC489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438912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 Tracker (39.8%) is the core app utility, with Progress next (25.1%). Together they're 65% of all engagement — any friction here risks the 75% completion rate.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53796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Split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766560" y="1600200"/>
          <a:ext cx="4937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6537960" y="4526280"/>
            <a:ext cx="5212080" cy="822960"/>
          </a:xfrm>
          <a:prstGeom prst="roundRect">
            <a:avLst>
              <a:gd name="adj" fmla="val 11111"/>
            </a:avLst>
          </a:prstGeom>
          <a:solidFill>
            <a:srgbClr val="0C1A2E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6766560" y="4590288"/>
            <a:ext cx="4754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Mobile, Web, and Smartwatch usage are nearly equal (~33% each) — the experience must stay consistent across all three.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Hypothesis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709160"/>
          </a:xfrm>
          <a:prstGeom prst="roundRect">
            <a:avLst>
              <a:gd name="adj" fmla="val 259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645920"/>
            <a:ext cx="1554480" cy="320040"/>
          </a:xfrm>
          <a:prstGeom prst="roundRect">
            <a:avLst>
              <a:gd name="adj" fmla="val 17143"/>
            </a:avLst>
          </a:prstGeom>
          <a:solidFill>
            <a:srgbClr val="10B981">
              <a:alpha val="18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Workout type changes calorie burn.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average calories burned is equal across workout types.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374904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000000">
              <a:alpha val="45000"/>
            </a:srgbClr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0120" y="3822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15,699.11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41879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H₀ — calorie burn varies significantly by workout type.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520440" cy="4709160"/>
          </a:xfrm>
          <a:prstGeom prst="roundRect">
            <a:avLst>
              <a:gd name="adj" fmla="val 259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0" y="1645920"/>
            <a:ext cx="1554480" cy="320040"/>
          </a:xfrm>
          <a:prstGeom prst="roundRect">
            <a:avLst>
              <a:gd name="adj" fmla="val 17143"/>
            </a:avLst>
          </a:prstGeom>
          <a:solidFill>
            <a:srgbClr val="8B5CF6">
              <a:alpha val="18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0" y="21488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clicks do not prove more completions.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4572000" y="2971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notification clicks and workout completion are independent.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0" y="374904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000000">
              <a:alpha val="45000"/>
            </a:srgbClr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09160" y="3822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= 0.91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09160" y="41879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0.34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0" y="48006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to reject H₀ — no significant relationship found.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46720" y="1371600"/>
            <a:ext cx="3520440" cy="4709160"/>
          </a:xfrm>
          <a:prstGeom prst="roundRect">
            <a:avLst>
              <a:gd name="adj" fmla="val 259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321040" y="1645920"/>
            <a:ext cx="1554480" cy="320040"/>
          </a:xfrm>
          <a:prstGeom prst="roundRect">
            <a:avLst>
              <a:gd name="adj" fmla="val 17143"/>
            </a:avLst>
          </a:prstGeom>
          <a:solidFill>
            <a:srgbClr val="EC4899">
              <a:alpha val="18000"/>
            </a:srgbClr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32104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T-TEST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321040" y="21488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Clicks do not mean longer sessions.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21040" y="2971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avg. session duration is equal for clicked vs. not-clicked users.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321040" y="374904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000000">
              <a:alpha val="45000"/>
            </a:srgbClr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458200" y="3822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1.22 (17.84 vs 17.82 min), n = 73,024 vs 126,976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458200" y="41879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0.22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21040" y="48006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to reject H₀ — no significant duration lift found.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Database Automations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SQL structures move the backend from static files into an automated, self-refreshing analytics pipeline for the business team.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8928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 Performance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44144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Pre-calculates KPIs across Free, Trial, and Premium tiers using a virtual table (vw_subscription_performance).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275234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</a:t>
            </a:r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query insights instantly without writing complex JOINs.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26480" y="178308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8928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TRIGGER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21488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Activity Sync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0" y="244144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INSERT trigger on activity continuously updates the activity_summary table using NEW row values.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275234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</a:t>
            </a:r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 metrics on dashboards stay accurate without manual batch scripts.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3310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STORED PROCEDURE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14400" y="356616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 Reporting Generator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385876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sp_subscription_performance_report() encapsulates the full conversion-metrics query.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440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</a:t>
            </a:r>
            <a:pPr indent="0" marL="0">
              <a:buNone/>
            </a:pPr>
            <a:r>
              <a:rPr lang="en-US" sz="95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Non-technical managers retrieve formatted insights with one CALL command.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26480" y="3200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3310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EVENT SCHEDULER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356616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Engagement Refresh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0" y="385876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Truncates and rebuilds engagement_summary every 24 hours via a scheduled EVENT.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</a:t>
            </a:r>
            <a:pPr indent="0" marL="0">
              <a:buNone/>
            </a:pPr>
            <a:r>
              <a:rPr lang="en-US" sz="95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tables stay synchronized with the latest engagement data automatically.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3333"/>
            </a:avLst>
          </a:prstGeom>
          <a:solidFill>
            <a:srgbClr val="0C1A2E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22960" y="58704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Note:  </a:t>
            </a:r>
            <a:pPr indent="0" marL="0">
              <a:buNone/>
            </a:pPr>
            <a:r>
              <a:rPr lang="en-US" sz="11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relational SQL setup was chosen for stateful, accurate aggregations for business reporting, over a document-store alternative for unstructured wearable data.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Modeling (ML) Approach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Data to Predict the Future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machine learning is applied to achieve two very specific, measurable business goals: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394960" cy="914400"/>
          </a:xfrm>
          <a:prstGeom prst="roundRect">
            <a:avLst>
              <a:gd name="adj" fmla="val 10000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22960" y="2807208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2807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40" dirty="0"/>
          </a:p>
        </p:txBody>
      </p:sp>
      <p:sp>
        <p:nvSpPr>
          <p:cNvPr id="9" name="Text 7"/>
          <p:cNvSpPr/>
          <p:nvPr/>
        </p:nvSpPr>
        <p:spPr>
          <a:xfrm>
            <a:off x="1508760" y="27157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(Targeting)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508760" y="29900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users highly likely to stay engaged, so retention and reward budgets can be focused accurately.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5394960" cy="914400"/>
          </a:xfrm>
          <a:prstGeom prst="roundRect">
            <a:avLst>
              <a:gd name="adj" fmla="val 10000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22960" y="3858768"/>
            <a:ext cx="502920" cy="502920"/>
          </a:xfrm>
          <a:prstGeom prst="ellipse">
            <a:avLst/>
          </a:prstGeom>
          <a:solidFill>
            <a:srgbClr val="3B82F6">
              <a:alpha val="15000"/>
            </a:srgbClr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858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40" dirty="0"/>
          </a:p>
        </p:txBody>
      </p:sp>
      <p:sp>
        <p:nvSpPr>
          <p:cNvPr id="14" name="Text 12"/>
          <p:cNvSpPr/>
          <p:nvPr/>
        </p:nvSpPr>
        <p:spPr>
          <a:xfrm>
            <a:off x="1508760" y="37673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(Valuation)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508760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 user's total session time quantitatively to forecast lifetime value (LTV).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137160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0C1A2E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629400" y="1600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Pipeline &amp; Preparation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205740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“High Engagement” = Total Session Time ≥ median (5,943 min)  •  Dataset: 600 users, balanced classes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2834640"/>
            <a:ext cx="4663440" cy="777240"/>
          </a:xfrm>
          <a:prstGeom prst="roundRect">
            <a:avLst>
              <a:gd name="adj" fmla="val 11765"/>
            </a:avLst>
          </a:prstGeom>
          <a:solidFill>
            <a:srgbClr val="0B1120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12280" y="28346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 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 / 20% Test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29400" y="3749040"/>
            <a:ext cx="4663440" cy="777240"/>
          </a:xfrm>
          <a:prstGeom prst="roundRect">
            <a:avLst>
              <a:gd name="adj" fmla="val 11765"/>
            </a:avLst>
          </a:prstGeom>
          <a:solidFill>
            <a:srgbClr val="0B1120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12280" y="37490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Scale 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applied to normalize numerical variance.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29400" y="4663440"/>
            <a:ext cx="4663440" cy="777240"/>
          </a:xfrm>
          <a:prstGeom prst="roundRect">
            <a:avLst>
              <a:gd name="adj" fmla="val 11765"/>
            </a:avLst>
          </a:prstGeom>
          <a:solidFill>
            <a:srgbClr val="0B1120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12280" y="46634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Encode 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 for Gender, Region, Subscription, Goal, Workout Type.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Classification Models Evaluated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target: </a:t>
            </a:r>
            <a:pPr algn="ctr"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User_Engagement_Level</a:t>
            </a:r>
            <a:pPr algn="ctr"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real business-assigned Low/Medium/High tier (200 users each), validated against behavior.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141B2E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1947672"/>
            <a:ext cx="2971800" cy="310896"/>
          </a:xfrm>
          <a:prstGeom prst="roundRect">
            <a:avLst>
              <a:gd name="adj" fmla="val 17647"/>
            </a:avLst>
          </a:prstGeom>
          <a:solidFill>
            <a:srgbClr val="10B981">
              <a:alpha val="18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194767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RECOMMENDED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67.5%   |   vs. 33% random-guess baseline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429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identifies 27/40 Low, 24/40 Medium, and 30/40 High users — and never confuses Low with High directly.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4572000"/>
            <a:ext cx="2971800" cy="0"/>
          </a:xfrm>
          <a:prstGeom prst="line">
            <a:avLst/>
          </a:prstGeom>
          <a:noFill/>
          <a:ln w="12700">
            <a:solidFill>
              <a:srgbClr val="1F2A4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7091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Virtually tied with Decision Tree on accuracy, but coefficients are directly explainable — the business can defend exactly which behaviors drive each tier.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69164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141B2E"/>
          </a:solidFill>
          <a:ln w="1270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0" y="1947672"/>
            <a:ext cx="2971800" cy="310896"/>
          </a:xfrm>
          <a:prstGeom prst="roundRect">
            <a:avLst>
              <a:gd name="adj" fmla="val 17647"/>
            </a:avLst>
          </a:prstGeom>
          <a:solidFill>
            <a:srgbClr val="8B5CF6">
              <a:alpha val="18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0" y="194767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23774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KNN Classifier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0" y="28346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43.3%   |   weakest of the three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0" y="3429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23/40 Low and 22/40 High, but only 7/40 Medium — and sometimes confuses Low directly with High.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4572000"/>
            <a:ext cx="2971800" cy="0"/>
          </a:xfrm>
          <a:prstGeom prst="line">
            <a:avLst/>
          </a:prstGeom>
          <a:noFill/>
          <a:ln w="12700">
            <a:solidFill>
              <a:srgbClr val="1F2A4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0" y="47091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coefficients to explain — classifies by comparing users to similar users, with no “why” behind a prediction.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46720" y="169164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141B2E"/>
          </a:solidFill>
          <a:ln w="12700">
            <a:solidFill>
              <a:srgbClr val="EC489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321040" y="1947672"/>
            <a:ext cx="2971800" cy="310896"/>
          </a:xfrm>
          <a:prstGeom prst="roundRect">
            <a:avLst>
              <a:gd name="adj" fmla="val 17647"/>
            </a:avLst>
          </a:prstGeom>
          <a:solidFill>
            <a:srgbClr val="EC4899">
              <a:alpha val="18000"/>
            </a:srgbClr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321040" y="194767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ACCURACY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21040" y="23774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Tree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68.3%   |   highest raw accuracy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321040" y="3429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30/40 Low, 21/40 Medium, and 31/40 High — highest raw accuracy, never confuses Low with High.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321040" y="4572000"/>
            <a:ext cx="2971800" cy="0"/>
          </a:xfrm>
          <a:prstGeom prst="line">
            <a:avLst/>
          </a:prstGeom>
          <a:noFill/>
          <a:ln w="12700">
            <a:solidFill>
              <a:srgbClr val="1F2A44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321040" y="47091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by less than 1 point; branching rules are harder for stakeholders to generalize from than Logistic Regression's coefficients.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Drivers: What Impacts Engagement?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Driver: Workout Frequency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was chosen not just for its 67.5% accuracy (virtually tied with Decision Tree's 68.3%), but for its perfect business explainability.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 frequency dominates the 'High' engagement tier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more than 2x the next driver, Completion Rate. Notification Click Rate also pushes users toward High engagement. Purchase Rate, however, carries almost no weight: buying behavior and being a highly-engaged user are largely independent in this data.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16052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0C1A2E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429768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Mandate:  </a:t>
            </a:r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workout frequency, completion, and notification response to grow the real High-engagement segment — purchase-focused campaigns are a separate, weakly-related lever.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5508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Regression: Drivers of the 'High' Tier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355080" y="1783080"/>
          <a:ext cx="52120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6355080" y="420624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583680" y="43434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b="1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Smaller, secondary effects:  </a:t>
            </a:r>
            <a:pPr indent="0" marL="0">
              <a:lnSpc>
                <a:spcPct val="128000"/>
              </a:lnSpc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Steps and Premium Subscription contribute smaller positive effects; Purchase Rate is the only negative driver once workout frequency is accounted for.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OBJECTIVE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Linear Regression: Predicting Session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B82F6"/>
                </a:solidFill>
                <a:latin typeface="Cambria"/>
              </a:rPr>
              <a:t>From Categories to a Number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Calibri"/>
              </a:rPr>
              <a:t>Classification predicts a tier; regression predicts an actual quantity. Linear Regression estimates a user's Total Session Time directly, using the same demographic and behavioral inputs as the classification models.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On unseen test users, predictions are typically off by about 298 minutes (MAE), </a:t>
            </a:r>
            <a:r>
              <a:rPr sz="1300" b="0">
                <a:solidFill>
                  <a:srgbClr val="9CA3AF"/>
                </a:solidFill>
                <a:latin typeface="Calibri"/>
              </a:rPr>
              <a:t>and the model explains 55% of the variation (R²) in session time — a solid baseline, not a production-grade forecast.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5394960" cy="1417320"/>
          </a:xfrm>
          <a:prstGeom prst="rect">
            <a:avLst/>
          </a:prstGeom>
          <a:solidFill>
            <a:srgbClr val="0C1A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 rIns="137160"/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Business use:  </a:t>
            </a:r>
            <a:r>
              <a:rPr sz="1200" b="0">
                <a:solidFill>
                  <a:srgbClr val="F3F4F6"/>
                </a:solidFill>
                <a:latin typeface="Calibri"/>
              </a:rPr>
              <a:t>Estimate expected engagement depth per user to support lifetime-value planning and capacity forecasting, alongside the Low/Medium/High classification.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3F4F6"/>
                </a:solidFill>
                <a:latin typeface="Calibri"/>
              </a:rPr>
              <a:t>Actual vs Predicted Session Time</a:t>
            </a:r>
          </a:p>
        </p:txBody>
      </p:sp>
      <p:pic>
        <p:nvPicPr>
          <p:cNvPr id="9" name="Picture 8" descr="regressi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212080" cy="2286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355080" y="4206240"/>
            <a:ext cx="5212080" cy="1371600"/>
          </a:xfrm>
          <a:prstGeom prst="rect">
            <a:avLst/>
          </a:prstGeom>
          <a:solidFill>
            <a:srgbClr val="0C1A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 rIns="137160"/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Insight:  </a:t>
            </a:r>
            <a:r>
              <a:rPr sz="1200" b="0">
                <a:solidFill>
                  <a:srgbClr val="F3F4F6"/>
                </a:solidFill>
                <a:latin typeface="Calibri"/>
              </a:rPr>
              <a:t>MAE ≈ 298 min | RMSE ≈ 361 min | R² ≈ 0.55. Points near the diagonal are accurate predictions.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B5568"/>
                </a:solidFill>
                <a:latin typeface="Calibri"/>
              </a:rPr>
              <a:t>FitTech App Analytics  |  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OBJECTIVE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K-Means Clustering: Two Real User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8B5CF6"/>
                </a:solidFill>
                <a:latin typeface="Cambria"/>
              </a:rPr>
              <a:t>Segmenting for Adaptive Reminders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Calibri"/>
              </a:rPr>
              <a:t>Clustering on Completion Rate, Purchase Rate, and Notification Click Rate — with k = 2 chosen because it wins decisively on silhouette, Davies-Bouldin, and Calinski-Harabasz scores, not picked for simplicity.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Purchase Rate is what actually separates the two groups, </a:t>
            </a:r>
            <a:r>
              <a:rPr sz="1300" b="0">
                <a:solidFill>
                  <a:srgbClr val="9CA3AF"/>
                </a:solidFill>
                <a:latin typeface="Calibri"/>
              </a:rPr>
              <a:t>mirroring Subscription Type almost exactly: 249 Premium users converting at 25%, versus 351 Free users converting at just 6%. Completion Rate is nearly identical between them (0.75 both).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5394960" cy="1417320"/>
          </a:xfrm>
          <a:prstGeom prst="rect">
            <a:avLst/>
          </a:prstGeom>
          <a:solidFill>
            <a:srgbClr val="0C1A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 rIns="137160"/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Suggested actions:  </a:t>
            </a:r>
            <a:r>
              <a:rPr sz="1200" b="0">
                <a:solidFill>
                  <a:srgbClr val="F3F4F6"/>
                </a:solidFill>
                <a:latin typeface="Calibri"/>
              </a:rPr>
              <a:t>Reward and retain the 249 already-converting Premium users; send the 351 Free users goal-based premium trial reminders rather than generic reactivation.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3F4F6"/>
                </a:solidFill>
                <a:latin typeface="Calibri"/>
              </a:rPr>
              <a:t>User Segments: Purchase vs Completion Rate</a:t>
            </a:r>
          </a:p>
        </p:txBody>
      </p:sp>
      <p:pic>
        <p:nvPicPr>
          <p:cNvPr id="9" name="Picture 8" descr="cluste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212080" cy="2286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355080" y="4206240"/>
            <a:ext cx="5212080" cy="1371600"/>
          </a:xfrm>
          <a:prstGeom prst="rect">
            <a:avLst/>
          </a:prstGeom>
          <a:solidFill>
            <a:srgbClr val="0C1A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 rIns="137160"/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Insight:  </a:t>
            </a:r>
            <a:r>
              <a:rPr sz="1200" b="0">
                <a:solidFill>
                  <a:srgbClr val="F3F4F6"/>
                </a:solidFill>
                <a:latin typeface="Calibri"/>
              </a:rPr>
              <a:t>This split tracks purchase behavior, not overall activity — it does not line up with the real Engagement_Level label, which is driven by workout frequency instead.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B5568"/>
                </a:solidFill>
                <a:latin typeface="Calibri"/>
              </a:rPr>
              <a:t>FitTech App Analytics  |  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Findings &amp; Interpretations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8BDF8">
              <a:alpha val="18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17320" y="1645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Workout Preferences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19933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Yoga is the most recorded workout at 25.1%, while Cardio has the highest average calorie burn at 539.7 calories.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200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8BDF8">
              <a:alpha val="18000"/>
            </a:srgbClr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41732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 Timing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35021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accounts for 45.1% of workouts — the best timing window for reminders and app reliability.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7091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8BDF8">
              <a:alpha val="18000"/>
            </a:srgbClr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417320" y="4663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Utility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50109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 Tracker contributes 39.8% of engagement sessions — users clearly value progress tracking.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146304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583680" y="1691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0B981">
              <a:alpha val="18000"/>
            </a:srgbClr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223760" y="1645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 Bottleneck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23760" y="19933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is strong at 75.0%, but notification clicks (36.5%) and purchases (13.8%) show real conversion drop-off.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297180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583680" y="3200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0B981">
              <a:alpha val="18000"/>
            </a:srgbClr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22376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Reality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23760" y="35021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shows notification clicks do not automatically create longer sessions — message quality matters more than click volume.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448056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583680" y="47091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0B981">
              <a:alpha val="18000"/>
            </a:srgbClr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223760" y="4663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Direction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23760" y="50109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converts these insights into action: identifying likely high-engagement users and estimating session time.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Recommendations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6002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Prioritize high-value feature journeys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product investment on Workout Tracker and Progress, which together account for 65% of feature usage.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39.8% Workout Tracker, 25.1% Progress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97680" y="137160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16002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completion-safe feature pairings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0" y="224028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 Log and Community show the highest workout completion rates. Bundle these pathways with workout guidance to improve satisfaction.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3337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COMPLETION: Diet Log 75.5%, Community 75.3%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141B2E"/>
          </a:solidFill>
          <a:ln w="12700">
            <a:solidFill>
              <a:srgbClr val="1F2A4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16002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Personalize by workout efficiency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21040" y="224028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higher-efficiency workouts for calorie-focused users, consistency-focused routines for wellness goals.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3337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EFFICIENCY: Cardio 9.0 cal/min, Yoga 4.0 cal/min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0C1A2E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4133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  Optimize cross-device consistency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Mobile, Web, and Smartwatch usage are nearly equal (~33% each) — deliver the same high-quality feature experience across all devices.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5257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SHARE: Mobile 33.5%, Web 33.4%, Smartwatch 33.2%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26480" y="393192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24121C"/>
          </a:solidFill>
          <a:ln w="12700">
            <a:solidFill>
              <a:srgbClr val="EC489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4133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48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🚀  Focus on engagement drivers, not surface metrics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45262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improvements that directly support Objectives 3 and 4 — feature adoption, notification effectiveness, efficiency, and completion — rather than isolated volume numbers.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FitTech App Analytics  |  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914400"/>
            <a:ext cx="5943600" cy="594360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0" y="37490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 and attention.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Prasanna  •  Batch DA68  •  Mentor: Priya Shanmugam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2026-07-22T04:28:02Z</dcterms:created>
  <dcterms:modified xsi:type="dcterms:W3CDTF">2026-07-22T04:28:02Z</dcterms:modified>
</cp:coreProperties>
</file>